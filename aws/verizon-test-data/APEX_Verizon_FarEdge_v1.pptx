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kyline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0"/>
            <a:ext cx="7114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49240" cy="6858000"/>
          </a:xfrm>
          <a:prstGeom prst="rect">
            <a:avLst/>
          </a:prstGeom>
          <a:solidFill>
            <a:srgbClr val="01322A"/>
          </a:solidFill>
          <a:ln/>
        </p:spPr>
      </p:sp>
      <p:sp>
        <p:nvSpPr>
          <p:cNvPr id="4" name="Shape 1"/>
          <p:cNvSpPr/>
          <p:nvPr/>
        </p:nvSpPr>
        <p:spPr>
          <a:xfrm>
            <a:off x="5074920" y="0"/>
            <a:ext cx="1463040" cy="6858000"/>
          </a:xfrm>
          <a:prstGeom prst="rect">
            <a:avLst/>
          </a:prstGeom>
          <a:solidFill>
            <a:srgbClr val="01322A">
              <a:alpha val="6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CBTS AI PRACTICE  ·  DEMO PRESENTATION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" y="14173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Certification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for Verizon Far Edge —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real MTCE Lab corpus.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4700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65960" y="4297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~40→14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965960" y="4700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→ min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46120" y="4297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246120" y="4700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SME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shared by James Patchett · MTCE Lab VCPfe · Verizon</a:t>
            </a:r>
            <a:endParaRPr lang="en-US" sz="1400" dirty="0"/>
          </a:p>
        </p:txBody>
      </p:sp>
      <p:pic>
        <p:nvPicPr>
          <p:cNvPr id="15" name="Image 1" descr="logo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99632"/>
            <a:ext cx="1371600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REALITY ON THE BENCH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engineer. 118 firmware reports. Every one by hand.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validation: parse logs, triage Redfish conformance, cross-check sensors, write it up, file the JIRA.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74920" cy="2011680"/>
          </a:xfrm>
          <a:prstGeom prst="roundRect">
            <a:avLst>
              <a:gd name="adj" fmla="val 2727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00FFD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Patchett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MTCE Lab · VCPfe · Verizon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07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i="1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failed tests are not relevant to operation of Redfish with VCPfe in production… marked test passed.”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5295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verbatim, from a real validation report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42432" y="1828800"/>
            <a:ext cx="5943600" cy="841248"/>
          </a:xfrm>
          <a:prstGeom prst="roundRect">
            <a:avLst>
              <a:gd name="adj" fmla="val 6522"/>
            </a:avLst>
          </a:prstGeom>
          <a:solidFill>
            <a:srgbClr val="F3F9F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9202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hrs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138160" y="182880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9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firmware validation — entirely manual, judgment required on every report.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42432" y="2779776"/>
            <a:ext cx="1892808" cy="1874520"/>
          </a:xfrm>
          <a:prstGeom prst="roundRect">
            <a:avLst>
              <a:gd name="adj" fmla="val 2439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0" descr="ic_server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962656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43600" y="3291840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fleet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943600" y="3803904"/>
            <a:ext cx="15270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Edgeline, ZT Systems, Dell — each with its own BMC / iLO / iDRAC quirks and firmware trains.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44968" y="2779776"/>
            <a:ext cx="1892808" cy="1874520"/>
          </a:xfrm>
          <a:prstGeom prst="roundRect">
            <a:avLst>
              <a:gd name="adj" fmla="val 2439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1" descr="ic_warn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296265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946136" y="3291840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noise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946136" y="3803904"/>
            <a:ext cx="15270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DMTF run throws benign failures that look like defects — judgment is required every single time.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9747504" y="2779776"/>
            <a:ext cx="1892808" cy="1874520"/>
          </a:xfrm>
          <a:prstGeom prst="roundRect">
            <a:avLst>
              <a:gd name="adj" fmla="val 2439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4" name="Image 2" descr="ic_bug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2" y="2962656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948672" y="3291840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found late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9948672" y="3803904"/>
            <a:ext cx="15270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BMC build can ship to a wave before anyone notices the thermal bug it introduced.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0292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logs  ›  Triage Redfish  ›  Cross-check sensors  ›  Write up  ›  File JIRA</a:t>
            </a:r>
            <a:endParaRPr lang="en-US" sz="1400" dirty="0"/>
          </a:p>
        </p:txBody>
      </p:sp>
      <p:pic>
        <p:nvPicPr>
          <p:cNvPr id="28" name="Image 3" descr="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3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WHY THIS MATTERS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reports is not the ceiling. It is one drop.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i="1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triage, multiplied across the fleet — and the agents reach James's verdicts because they learned his rules from his own reports.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4297680" cy="2468880"/>
          </a:xfrm>
          <a:prstGeom prst="roundRect">
            <a:avLst>
              <a:gd name="adj" fmla="val 2963"/>
            </a:avLst>
          </a:prstGeom>
          <a:solidFill>
            <a:srgbClr val="2A1414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4,720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engineer-hours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reports × ~40 hr</a:t>
            </a:r>
            <a:endParaRPr lang="en-US" sz="1400" dirty="0"/>
          </a:p>
        </p:txBody>
      </p:sp>
      <p:pic>
        <p:nvPicPr>
          <p:cNvPr id="10" name="Image 0" descr="ic_arrow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3246120"/>
            <a:ext cx="45720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0" y="224028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004D3E"/>
          </a:solidFill>
          <a:ln w="19050">
            <a:solidFill>
              <a:srgbClr val="00FF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APEX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2788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</a:t>
            </a:r>
            <a:endParaRPr lang="en-US" sz="7600" dirty="0"/>
          </a:p>
        </p:txBody>
      </p:sp>
      <p:sp>
        <p:nvSpPr>
          <p:cNvPr id="14" name="Text 11"/>
          <p:cNvSpPr/>
          <p:nvPr/>
        </p:nvSpPr>
        <p:spPr>
          <a:xfrm>
            <a:off x="6400800" y="37490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agent-hours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0" y="4114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min / report · HITL sign-off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4983480"/>
            <a:ext cx="10515600" cy="822960"/>
          </a:xfrm>
          <a:prstGeom prst="roundRect">
            <a:avLst>
              <a:gd name="adj" fmla="val 6667"/>
            </a:avLst>
          </a:prstGeom>
          <a:solidFill>
            <a:srgbClr val="0A3D33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9834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99% time reduction</a:t>
            </a:r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and the triage verdicts match James's manual decisions, because the agents learned his rules from his own historical reports.</a:t>
            </a:r>
            <a:endParaRPr lang="en-US" sz="1500" dirty="0"/>
          </a:p>
        </p:txBody>
      </p:sp>
      <p:pic>
        <p:nvPicPr>
          <p:cNvPr id="18" name="Image 1" descr="logo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85% of AI pilots never reach the bench.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clever demo isn't a production system. The gap is integration and governance — exactly what APEX is built for.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F3F9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514600" y="1810512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9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pilots never reach production — abandoned in the gap between a chatbot demo and a governed system wired into the work.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816352"/>
            <a:ext cx="3657600" cy="2322576"/>
          </a:xfrm>
          <a:prstGeom prst="roundRect">
            <a:avLst>
              <a:gd name="adj" fmla="val 236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ic_users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358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6152" y="30540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01 · SKILLS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5295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Demo-builders, not operators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3968496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can prompt a model. Few can stand up a production agent with HITL, audit, and live system integration.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65676" y="2816352"/>
            <a:ext cx="3657600" cy="2322576"/>
          </a:xfrm>
          <a:prstGeom prst="roundRect">
            <a:avLst>
              <a:gd name="adj" fmla="val 236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ic_sitemap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30358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8908" y="30540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02 · INTEGRATION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39996" y="35295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reaches the record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39996" y="3968496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tools read a file but can't file the JIRA or write to ERP / CRM / Oracle. The work never closes the loop.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028432" y="2816352"/>
            <a:ext cx="3657600" cy="2322576"/>
          </a:xfrm>
          <a:prstGeom prst="roundRect">
            <a:avLst>
              <a:gd name="adj" fmla="val 236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2" descr="ic_gavel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30358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41664" y="30540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03 · GOVERNANCE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02752" y="35295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trail, no sign-off, no trust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02752" y="3968496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touches certification, you need HITL gates and an immutable audit ledger. A black box never passes review.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02920" y="5175504"/>
            <a:ext cx="11183112" cy="841248"/>
          </a:xfrm>
          <a:prstGeom prst="roundRect">
            <a:avLst>
              <a:gd name="adj" fmla="val 6522"/>
            </a:avLst>
          </a:prstGeom>
          <a:solidFill>
            <a:srgbClr val="01322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4" name="Image 3" descr="ic_stream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1324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5175504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APEX fixes it: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is the workflow-orchestration + governance layer — wired into your systems of record (JIRA, ERP, CRM, Oracle, data lakes) and trained on James's own reports. It closes the loop a demo never can.</a:t>
            </a:r>
            <a:endParaRPr lang="en-US" sz="1400" dirty="0"/>
          </a:p>
        </p:txBody>
      </p:sp>
      <p:pic>
        <p:nvPicPr>
          <p:cNvPr id="26" name="Image 4" descr="logo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NOT ALL AGENTS ARE THE SAME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lives in Claude. APEX runs the line.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 of the agent world. Claude and Claude Cowork are brilliant Layer-1 assistants. APEX operates at Layers 4–5.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7360920" cy="548640"/>
          </a:xfrm>
          <a:prstGeom prst="roundRect">
            <a:avLst>
              <a:gd name="adj" fmla="val 8333"/>
            </a:avLst>
          </a:prstGeom>
          <a:solidFill>
            <a:srgbClr val="F3F9F7"/>
          </a:solidFill>
          <a:ln w="12700">
            <a:solidFill>
              <a:srgbClr val="E2E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901952"/>
            <a:ext cx="310896" cy="310896"/>
          </a:xfrm>
          <a:prstGeom prst="ellipse">
            <a:avLst/>
          </a:prstGeom>
          <a:solidFill>
            <a:srgbClr val="D6E5E0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" y="1783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assistants   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· Claude · Claude Cowork · GitHub Copilot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RESPONSE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7360920" cy="548640"/>
          </a:xfrm>
          <a:prstGeom prst="roundRect">
            <a:avLst>
              <a:gd name="adj" fmla="val 8333"/>
            </a:avLst>
          </a:prstGeom>
          <a:solidFill>
            <a:srgbClr val="F3F9F7"/>
          </a:solidFill>
          <a:ln w="12700">
            <a:solidFill>
              <a:srgbClr val="E2E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542032"/>
            <a:ext cx="310896" cy="310896"/>
          </a:xfrm>
          <a:prstGeom prst="ellipse">
            <a:avLst/>
          </a:prstGeom>
          <a:solidFill>
            <a:srgbClr val="D6E5E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" y="24231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build platforms   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Agent Builder · Azure AI Foundry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7360920" cy="548640"/>
          </a:xfrm>
          <a:prstGeom prst="roundRect">
            <a:avLst>
              <a:gd name="adj" fmla="val 8333"/>
            </a:avLst>
          </a:prstGeom>
          <a:solidFill>
            <a:srgbClr val="F3F9F7"/>
          </a:solidFill>
          <a:ln w="12700">
            <a:solidFill>
              <a:srgbClr val="E2E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3182112"/>
            <a:ext cx="310896" cy="310896"/>
          </a:xfrm>
          <a:prstGeom prst="ellipse">
            <a:avLst/>
          </a:prstGeom>
          <a:solidFill>
            <a:srgbClr val="D6E5E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06424" y="3063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frameworks   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LangChain · CrewAI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1500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LAYER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7360920" cy="548640"/>
          </a:xfrm>
          <a:prstGeom prst="roundRect">
            <a:avLst>
              <a:gd name="adj" fmla="val 8333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" y="3822192"/>
            <a:ext cx="310896" cy="310896"/>
          </a:xfrm>
          <a:prstGeom prst="ellipse">
            <a:avLst/>
          </a:prstGeom>
          <a:solidFill>
            <a:srgbClr val="00FFD2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06424" y="37033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— Document Intelligence   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B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acts on reports, logs, contracts, filings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ROUTE → ACT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343400"/>
            <a:ext cx="7360920" cy="548640"/>
          </a:xfrm>
          <a:prstGeom prst="roundRect">
            <a:avLst>
              <a:gd name="adj" fmla="val 8333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" y="4462272"/>
            <a:ext cx="310896" cy="310896"/>
          </a:xfrm>
          <a:prstGeom prst="ellipse">
            <a:avLst/>
          </a:prstGeom>
          <a:solidFill>
            <a:srgbClr val="00FFD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06424" y="43434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— Workflow &amp; Orchestration   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B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 · audit · LLM router · system integration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15000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+ GOVERN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92440" y="1783080"/>
            <a:ext cx="3593592" cy="3200400"/>
          </a:xfrm>
          <a:prstGeom prst="roundRect">
            <a:avLst>
              <a:gd name="adj" fmla="val 1714"/>
            </a:avLst>
          </a:prstGeom>
          <a:solidFill>
            <a:srgbClr val="01263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48472" y="1984248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CLAUDE ISN'T ENOUGH — ALONE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48472" y="233172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triages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James asks. It assists — he executes every step, every time.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48472" y="324612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runs all 118 </a:t>
            </a:r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</a:t>
            </a:r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HITL gates, immutable audit, JIRA + system integration, fleet-wide regression watch.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48472" y="4325112"/>
            <a:ext cx="3081528" cy="0"/>
          </a:xfrm>
          <a:prstGeom prst="line">
            <a:avLst/>
          </a:prstGeom>
          <a:noFill/>
          <a:ln w="12700">
            <a:solidFill>
              <a:srgbClr val="1556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8472" y="443484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runs Claude as a model under governance — it doesn't replace it.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52120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never “which agent?” — it's “which layer are you missing?”</a:t>
            </a:r>
            <a:endParaRPr lang="en-US" sz="1500" dirty="0"/>
          </a:p>
        </p:txBody>
      </p:sp>
      <p:pic>
        <p:nvPicPr>
          <p:cNvPr id="37" name="Image 0" descr="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APEX PLATFORM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intelligence layers.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sits between James's reports and a certified verdict — reading anything, anticipating regressions, acting under control.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57600" cy="4160520"/>
          </a:xfrm>
          <a:prstGeom prst="roundRect">
            <a:avLst>
              <a:gd name="adj" fmla="val 15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ic_layers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482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20665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LENS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Intelligence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" y="2980944"/>
            <a:ext cx="309067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firmware reports, Redfish logs, sensor &amp; BIOS output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and classifies every test in the run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 benign conformance noise vs. real defects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citation to the exact source line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118-report corpus across 3 vendors, 6 platforms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65676" y="1828800"/>
            <a:ext cx="3657600" cy="4160520"/>
          </a:xfrm>
          <a:prstGeom prst="roundRect">
            <a:avLst>
              <a:gd name="adj" fmla="val 15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ic_chart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20482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78908" y="20665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SIGNAL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39996" y="2542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58284" y="2980944"/>
            <a:ext cx="309067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watch across firmware-rev deltas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Redfish-schema drift detection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Upgrade-path risk scoring (WRCP trains)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bad firmware before it reaches a wave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fleet view by vendor &amp; rev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28432" y="1828800"/>
            <a:ext cx="3657600" cy="4160520"/>
          </a:xfrm>
          <a:prstGeom prst="roundRect">
            <a:avLst>
              <a:gd name="adj" fmla="val 15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ic_robot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04825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41664" y="20665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AGENTS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542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+ Governed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21040" y="2980944"/>
            <a:ext cx="309067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 run the certification line end-to-end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sign-off gates on every exception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ledger — full decision lineage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router: Claude on Vertex AI, swappable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to JIRA &amp; your systems of record</a:t>
            </a:r>
            <a:endParaRPr lang="en-US" sz="1400" dirty="0"/>
          </a:p>
        </p:txBody>
      </p:sp>
      <p:pic>
        <p:nvPicPr>
          <p:cNvPr id="20" name="Image 3" descr="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APEX MOAT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advantages no single tool can match.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isn't the model — it's James's corpus, the governance, and the orchestration, working together.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2715768" cy="3246120"/>
          </a:xfrm>
          <a:prstGeom prst="roundRect">
            <a:avLst>
              <a:gd name="adj" fmla="val 202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ic_grad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204825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YOUR CORPUS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23744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James's rules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" y="3218688"/>
            <a:ext cx="2148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 his own 118 reports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match the SME 100%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generic LLM prompts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every cycle — your data only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23844" y="1810512"/>
            <a:ext cx="2715768" cy="3246120"/>
          </a:xfrm>
          <a:prstGeom prst="roundRect">
            <a:avLst>
              <a:gd name="adj" fmla="val 202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ic_cloud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37076" y="204825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98164" y="2523744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cloud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6452" y="3218688"/>
            <a:ext cx="2148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in your GCP project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data never leaves your VPC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SaaS, no shared-model training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Per-vendor IAM isolation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44768" y="1810512"/>
            <a:ext cx="2715768" cy="3246120"/>
          </a:xfrm>
          <a:prstGeom prst="roundRect">
            <a:avLst>
              <a:gd name="adj" fmla="val 202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ic_eye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029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204825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DESIGN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19088" y="2523744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+ immutable DVR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37376" y="3218688"/>
            <a:ext cx="2148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signs off — one click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ledger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citation, no hallucination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lineage: intake → JIRA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965692" y="1810512"/>
            <a:ext cx="2715768" cy="3246120"/>
          </a:xfrm>
          <a:prstGeom prst="roundRect">
            <a:avLst>
              <a:gd name="adj" fmla="val 202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ic_exchange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012" y="20299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78924" y="204825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+ WIRED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40012" y="2523744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Orchestrated, not a model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58300" y="3218688"/>
            <a:ext cx="2148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 Vertex AI today, swappable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model routing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LangGraph under the hood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to JIRA &amp; systems of record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02920" y="5285232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F3F9F7"/>
          </a:solidFill>
          <a:ln/>
        </p:spPr>
      </p:sp>
      <p:pic>
        <p:nvPicPr>
          <p:cNvPr id="26" name="Image 4" descr="ic_lock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3153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5285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copy.  </a:t>
            </a:r>
            <a:pPr indent="0" marL="0">
              <a:buNone/>
            </a:pPr>
            <a:r>
              <a:rPr lang="en-US" sz="1400" dirty="0">
                <a:solidFill>
                  <a:srgbClr val="39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 can license the same model — but not James's corpus, your audit fabric, or the orchestration wired into your systems.</a:t>
            </a:r>
            <a:endParaRPr lang="en-US" sz="1400" dirty="0"/>
          </a:p>
        </p:txBody>
      </p:sp>
      <p:pic>
        <p:nvPicPr>
          <p:cNvPr id="28" name="Image 5" descr="logo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THE CORPUS IS REAL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heterogeneous far-edge fleet — three vendors, six platforms.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real validation reports. Not synthetic data — James's actual bench history.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ic_chip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6654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20665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EDGELINE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reports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" y="3035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2369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E910t · E920t · E930t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566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767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5 v3.06 · iLO 6 v1.57 / 1.60 / 1.68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65676" y="182880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ic_chip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206654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8908" y="20665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 SYSTEMS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39996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reports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539996" y="3035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39996" y="32369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· Triton · Galene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39996" y="3566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39996" y="3767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.43 / .45 / .46 · 2.31 · 3.02 · CPLD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028432" y="182880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ic_chip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066544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41664" y="20665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30275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report (new)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8302752" y="3035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302752" y="32369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PowerEdge R7615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02752" y="3566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302752" y="3767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iDRAC 7.10.50.10 · BIOS 1.8.3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502920" y="4261104"/>
            <a:ext cx="5532120" cy="960120"/>
          </a:xfrm>
          <a:prstGeom prst="roundRect">
            <a:avLst>
              <a:gd name="adj" fmla="val 5714"/>
            </a:avLst>
          </a:prstGeom>
          <a:solidFill>
            <a:srgbClr val="F3F9F7"/>
          </a:solidFill>
          <a:ln/>
        </p:spPr>
      </p:sp>
      <p:sp>
        <p:nvSpPr>
          <p:cNvPr id="30" name="Text 25"/>
          <p:cNvSpPr/>
          <p:nvPr/>
        </p:nvSpPr>
        <p:spPr>
          <a:xfrm>
            <a:off x="731520" y="43708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STACK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31520" y="460857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9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River Cloud Platform (WRCP) 21.05p6 → 21.12p10 → 22.12mr1 · distributed-cloud subclouds · Sapphire Rapids / Ice Lake · Intel v710 NIC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153912" y="4261104"/>
            <a:ext cx="5532120" cy="960120"/>
          </a:xfrm>
          <a:prstGeom prst="roundRect">
            <a:avLst>
              <a:gd name="adj" fmla="val 5714"/>
            </a:avLst>
          </a:prstGeom>
          <a:solidFill>
            <a:srgbClr val="F3F9F7"/>
          </a:solidFill>
          <a:ln/>
        </p:spPr>
      </p:sp>
      <p:sp>
        <p:nvSpPr>
          <p:cNvPr id="33" name="Text 28"/>
          <p:cNvSpPr/>
          <p:nvPr/>
        </p:nvSpPr>
        <p:spPr>
          <a:xfrm>
            <a:off x="6382512" y="43708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TEST CATALOG · MEAKV IDs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382512" y="460857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9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 DMTF · 508-517 BIOS · 518-524 Monitoring · 642-646 PTU · 648-655 Redfish · 1789-1791 Sensor · 1792 Samsung SSD · 1793 BMC Playbook · 1860 FlexRAN</a:t>
            </a:r>
            <a:endParaRPr lang="en-US" sz="1400" dirty="0"/>
          </a:p>
        </p:txBody>
      </p:sp>
      <p:pic>
        <p:nvPicPr>
          <p:cNvPr id="35" name="Image 3" descr="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 that run the certification line.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owns a stage — from raw report to certified verdict, with James in the loop where it counts.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716911" cy="3931920"/>
          </a:xfrm>
          <a:prstGeom prst="roundRect">
            <a:avLst>
              <a:gd name="adj" fmla="val 2019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ic_cert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05431" y="2121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0664" y="2743200"/>
            <a:ext cx="22597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CertificationAgent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0664" y="3456432"/>
            <a:ext cx="2259711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report, classifies every test, triages benign conformance failures, and auto-certifies with cited rationale.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24987" y="1828800"/>
            <a:ext cx="2716911" cy="3931920"/>
          </a:xfrm>
          <a:prstGeom prst="roundRect">
            <a:avLst>
              <a:gd name="adj" fmla="val 2019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ic_search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731" y="2103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7498" y="2121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2731" y="2743200"/>
            <a:ext cx="22597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SchemaWatchAgent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62731" y="3456432"/>
            <a:ext cx="2259711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firmware-rev deltas for regressions and Redfish drift. Caught the Samsung PM9A3 thermal bug before a wave shipped.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47054" y="1828800"/>
            <a:ext cx="2716911" cy="3931920"/>
          </a:xfrm>
          <a:prstGeom prst="roundRect">
            <a:avLst>
              <a:gd name="adj" fmla="val 2019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ic_shield2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798" y="21031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49565" y="2121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84798" y="2743200"/>
            <a:ext cx="22597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UpgradeAdvisorAgent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84798" y="3456432"/>
            <a:ext cx="2259711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WRCP upgrade paths, scores deployment risk, blocks bad firmware from the wave, routes high-risk to HITL.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969121" y="1828800"/>
            <a:ext cx="2716911" cy="3931920"/>
          </a:xfrm>
          <a:prstGeom prst="roundRect">
            <a:avLst>
              <a:gd name="adj" fmla="val 2019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ic_question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865" y="21031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71632" y="2121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UC-4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06865" y="2743200"/>
            <a:ext cx="22597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MentorAgent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206865" y="3456432"/>
            <a:ext cx="2259711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Q&amp;A with verbatim citations from James's real reports — no hallucination, full lineage to the source document.</a:t>
            </a:r>
            <a:endParaRPr lang="en-US" sz="1400" dirty="0"/>
          </a:p>
        </p:txBody>
      </p:sp>
      <p:pic>
        <p:nvPicPr>
          <p:cNvPr id="25" name="Image 4" descr="logo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HERO STORY 1 · CERTIFICATIONAGENT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 pass. 7 fail. All 7 are noise — and the AI knows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Edgeline E930t · iLO 6 v1.57 · MEAKV-507 DMTF Redfish Conformance · Validator v1.2.0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01263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2011680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PASS: 392 · FAIL: 7 · WARN: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2359152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FAILURES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GET   401  /SessionService/Sessions/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9809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GET   401  /Managers/1/NetworkProtocol/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GET   401  /Systems/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6027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GET   401  /AccountService/Accounts/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9136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POST  401  /AccountService/Accounts/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224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GET   401  /AccountService/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5354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 —     —    X.509 cert decode (IPv6)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882896"/>
            <a:ext cx="5303520" cy="0"/>
          </a:xfrm>
          <a:prstGeom prst="line">
            <a:avLst/>
          </a:prstGeom>
          <a:noFill/>
          <a:ln w="12700">
            <a:solidFill>
              <a:srgbClr val="1556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9743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WWW-Authenticate header  +  1× X.509 on IPv6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1828800"/>
            <a:ext cx="5148072" cy="1371600"/>
          </a:xfrm>
          <a:prstGeom prst="roundRect">
            <a:avLst>
              <a:gd name="adj" fmla="val 4000"/>
            </a:avLst>
          </a:prstGeom>
          <a:solidFill>
            <a:srgbClr val="004D3E"/>
          </a:solidFill>
          <a:ln w="19050">
            <a:solidFill>
              <a:srgbClr val="00FFD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201168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VERDICT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26771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(auto) · 96% confidence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12280" y="2743200"/>
            <a:ext cx="4599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are known-benign for VCPfe production. The identical signature recurs across iLO5 3.06, iLO6 1.60, and ZT BMC — one rule certifies the whole fleet.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346704"/>
            <a:ext cx="5148072" cy="1097280"/>
          </a:xfrm>
          <a:prstGeom prst="roundRect">
            <a:avLst>
              <a:gd name="adj" fmla="val 5000"/>
            </a:avLst>
          </a:prstGeom>
          <a:solidFill>
            <a:srgbClr val="F3F9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493008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James's real verdict: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749040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relevant to operation… marked test passed.”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7960" y="4590288"/>
            <a:ext cx="5148072" cy="1353312"/>
          </a:xfrm>
          <a:prstGeom prst="roundRect">
            <a:avLst>
              <a:gd name="adj" fmla="val 4054"/>
            </a:avLst>
          </a:prstGeom>
          <a:solidFill>
            <a:srgbClr val="01322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4590288"/>
            <a:ext cx="45994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matches that verdict 100% </a:t>
            </a:r>
            <a:pPr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applies it across 42 HPE reports automatically. The HITL gate keeps James in control: one click to sign off.</a:t>
            </a:r>
            <a:endParaRPr lang="en-US" sz="1500" dirty="0"/>
          </a:p>
        </p:txBody>
      </p:sp>
      <p:pic>
        <p:nvPicPr>
          <p:cNvPr id="26" name="Image 0" descr="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HERO STORY 2 · SCHEMAWATCHAGENT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BMC build that spikes every fan to 100% — caught before the wave.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 Proteus · BMC .45 → .46 · MEAKV-1792 Samsung SSD Temperature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ic_bug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665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.45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" y="31272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the Samsung PM9A3 drive temperature. The fan controller defaults to failsafe.</a:t>
            </a:r>
            <a:endParaRPr lang="en-US" sz="1400" dirty="0"/>
          </a:p>
        </p:txBody>
      </p:sp>
      <p:pic>
        <p:nvPicPr>
          <p:cNvPr id="10" name="Image 1" descr="ic_arrow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2944368"/>
            <a:ext cx="201168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65676" y="182880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ic_fan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6" y="206654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15484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39996" y="25420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fans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4539996" y="31272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fan ramps to full across the subcloud — acoustic and power impact, on real hardware.</a:t>
            </a:r>
            <a:endParaRPr lang="en-US" sz="1400" dirty="0"/>
          </a:p>
        </p:txBody>
      </p:sp>
      <p:pic>
        <p:nvPicPr>
          <p:cNvPr id="16" name="Image 3" descr="ic_arrow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2944368"/>
            <a:ext cx="201168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28432" y="182880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4" descr="ic_temp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066544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78240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A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8302752" y="25420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.46</a:t>
            </a:r>
            <a:endParaRPr lang="en-US" sz="2600" dirty="0"/>
          </a:p>
        </p:txBody>
      </p:sp>
      <p:sp>
        <p:nvSpPr>
          <p:cNvPr id="21" name="Text 14"/>
          <p:cNvSpPr/>
          <p:nvPr/>
        </p:nvSpPr>
        <p:spPr>
          <a:xfrm>
            <a:off x="8302752" y="31272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the thermal read. Lab-reproduced by downgrading .46 → .45. SchemaWatch confirmed it.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02920" y="4572000"/>
            <a:ext cx="11183112" cy="1371600"/>
          </a:xfrm>
          <a:prstGeom prst="roundRect">
            <a:avLst>
              <a:gd name="adj" fmla="val 4000"/>
            </a:avLst>
          </a:prstGeom>
          <a:solidFill>
            <a:srgbClr val="01322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777240" y="47365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PREVENTION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UpgradeAdvisor blocks BMC .45 from any wave touching Samsung PM9A3 sites and mandates .46 as the minimum.  </a:t>
            </a:r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regression that never reaches production — found in the lab, gated automatically, before a single site is touched.</a:t>
            </a:r>
            <a:endParaRPr lang="en-US" sz="1500" dirty="0"/>
          </a:p>
        </p:txBody>
      </p:sp>
      <p:pic>
        <p:nvPicPr>
          <p:cNvPr id="25" name="Image 5" descr="logo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→ certified out. Human-in-the-loop where it counts.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fully governed — running entirely inside your own Google Cloud project.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772412" cy="960120"/>
          </a:xfrm>
          <a:prstGeom prst="roundRect">
            <a:avLst>
              <a:gd name="adj" fmla="val 476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9224" y="2286000"/>
            <a:ext cx="1498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9224" y="2542032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drop</a:t>
            </a:r>
            <a:endParaRPr lang="en-US" sz="1400" dirty="0"/>
          </a:p>
        </p:txBody>
      </p:sp>
      <p:pic>
        <p:nvPicPr>
          <p:cNvPr id="9" name="Image 0" descr="ic_arrow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904" y="2212848"/>
            <a:ext cx="100584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385060" y="1828800"/>
            <a:ext cx="1772412" cy="960120"/>
          </a:xfrm>
          <a:prstGeom prst="roundRect">
            <a:avLst>
              <a:gd name="adj" fmla="val 476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31364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531364" y="2286000"/>
            <a:ext cx="1498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531364" y="2542032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Redfish</a:t>
            </a:r>
            <a:endParaRPr lang="en-US" sz="1400" dirty="0"/>
          </a:p>
        </p:txBody>
      </p:sp>
      <p:pic>
        <p:nvPicPr>
          <p:cNvPr id="14" name="Image 1" descr="ic_arrow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044" y="2212848"/>
            <a:ext cx="100584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67200" y="1828800"/>
            <a:ext cx="1772412" cy="960120"/>
          </a:xfrm>
          <a:prstGeom prst="roundRect">
            <a:avLst>
              <a:gd name="adj" fmla="val 476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413504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413504" y="2286000"/>
            <a:ext cx="1498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413504" y="2542032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/ P2 / P3</a:t>
            </a:r>
            <a:endParaRPr lang="en-US" sz="1400" dirty="0"/>
          </a:p>
        </p:txBody>
      </p:sp>
      <p:pic>
        <p:nvPicPr>
          <p:cNvPr id="19" name="Image 2" descr="ic_arrow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2212848"/>
            <a:ext cx="100584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149340" y="1828800"/>
            <a:ext cx="1772412" cy="960120"/>
          </a:xfrm>
          <a:prstGeom prst="roundRect">
            <a:avLst>
              <a:gd name="adj" fmla="val 476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295644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295644" y="2286000"/>
            <a:ext cx="1498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295644" y="2542032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vs real</a:t>
            </a:r>
            <a:endParaRPr lang="en-US" sz="1400" dirty="0"/>
          </a:p>
        </p:txBody>
      </p:sp>
      <p:pic>
        <p:nvPicPr>
          <p:cNvPr id="24" name="Image 3" descr="ic_arrow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324" y="2212848"/>
            <a:ext cx="100584" cy="1828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031480" y="1828800"/>
            <a:ext cx="1772412" cy="960120"/>
          </a:xfrm>
          <a:prstGeom prst="roundRect">
            <a:avLst>
              <a:gd name="adj" fmla="val 4762"/>
            </a:avLst>
          </a:prstGeom>
          <a:solidFill>
            <a:srgbClr val="01322A"/>
          </a:solidFill>
          <a:ln w="15875">
            <a:solidFill>
              <a:srgbClr val="00FFD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177784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8177784" y="2286000"/>
            <a:ext cx="1498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177784" y="2542032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signs</a:t>
            </a:r>
            <a:endParaRPr lang="en-US" sz="1400" dirty="0"/>
          </a:p>
        </p:txBody>
      </p:sp>
      <p:pic>
        <p:nvPicPr>
          <p:cNvPr id="29" name="Image 4" descr="ic_arrow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8464" y="2212848"/>
            <a:ext cx="100584" cy="1828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913620" y="1828800"/>
            <a:ext cx="1772412" cy="960120"/>
          </a:xfrm>
          <a:prstGeom prst="roundRect">
            <a:avLst>
              <a:gd name="adj" fmla="val 4762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10059924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10059924" y="2286000"/>
            <a:ext cx="1498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10059924" y="2542032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JIRA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02920" y="30358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GOOGLE CLOUD PROJECT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502920" y="3346704"/>
            <a:ext cx="1772412" cy="1371600"/>
          </a:xfrm>
          <a:prstGeom prst="roundRect">
            <a:avLst>
              <a:gd name="adj" fmla="val 3333"/>
            </a:avLst>
          </a:prstGeom>
          <a:solidFill>
            <a:srgbClr val="F3F9F7"/>
          </a:solidFill>
          <a:ln/>
        </p:spPr>
      </p:sp>
      <p:pic>
        <p:nvPicPr>
          <p:cNvPr id="36" name="Image 5" descr="ic_cloud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246" y="3529584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76072" y="3968496"/>
            <a:ext cx="1626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576072" y="4370832"/>
            <a:ext cx="1626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report intake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2385060" y="3346704"/>
            <a:ext cx="1772412" cy="1371600"/>
          </a:xfrm>
          <a:prstGeom prst="roundRect">
            <a:avLst>
              <a:gd name="adj" fmla="val 3333"/>
            </a:avLst>
          </a:prstGeom>
          <a:solidFill>
            <a:srgbClr val="F3F9F7"/>
          </a:solidFill>
          <a:ln/>
        </p:spPr>
      </p:sp>
      <p:pic>
        <p:nvPicPr>
          <p:cNvPr id="40" name="Image 6" descr="ic_bolt_mi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8386" y="3529584"/>
            <a:ext cx="365760" cy="3657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458212" y="3968496"/>
            <a:ext cx="1626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</a:t>
            </a:r>
            <a:endParaRPr lang="en-US" sz="1450" dirty="0"/>
          </a:p>
        </p:txBody>
      </p:sp>
      <p:sp>
        <p:nvSpPr>
          <p:cNvPr id="42" name="Text 33"/>
          <p:cNvSpPr/>
          <p:nvPr/>
        </p:nvSpPr>
        <p:spPr>
          <a:xfrm>
            <a:off x="2458212" y="4370832"/>
            <a:ext cx="1626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+ extract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4267200" y="3346704"/>
            <a:ext cx="1772412" cy="1371600"/>
          </a:xfrm>
          <a:prstGeom prst="roundRect">
            <a:avLst>
              <a:gd name="adj" fmla="val 3333"/>
            </a:avLst>
          </a:prstGeom>
          <a:solidFill>
            <a:srgbClr val="F3F9F7"/>
          </a:solidFill>
          <a:ln/>
        </p:spPr>
      </p:sp>
      <p:pic>
        <p:nvPicPr>
          <p:cNvPr id="44" name="Image 7" descr="ic_brain_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0526" y="3529584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340352" y="3968496"/>
            <a:ext cx="1626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450" dirty="0"/>
          </a:p>
        </p:txBody>
      </p:sp>
      <p:sp>
        <p:nvSpPr>
          <p:cNvPr id="46" name="Text 36"/>
          <p:cNvSpPr/>
          <p:nvPr/>
        </p:nvSpPr>
        <p:spPr>
          <a:xfrm>
            <a:off x="4340352" y="4370832"/>
            <a:ext cx="1626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(Claude)</a:t>
            </a:r>
            <a:endParaRPr lang="en-US" sz="1400" dirty="0"/>
          </a:p>
        </p:txBody>
      </p:sp>
      <p:sp>
        <p:nvSpPr>
          <p:cNvPr id="47" name="Shape 37"/>
          <p:cNvSpPr/>
          <p:nvPr/>
        </p:nvSpPr>
        <p:spPr>
          <a:xfrm>
            <a:off x="6149340" y="3346704"/>
            <a:ext cx="1772412" cy="1371600"/>
          </a:xfrm>
          <a:prstGeom prst="roundRect">
            <a:avLst>
              <a:gd name="adj" fmla="val 3333"/>
            </a:avLst>
          </a:prstGeom>
          <a:solidFill>
            <a:srgbClr val="F3F9F7"/>
          </a:solidFill>
          <a:ln/>
        </p:spPr>
      </p:sp>
      <p:pic>
        <p:nvPicPr>
          <p:cNvPr id="48" name="Image 8" descr="ic_stream_mi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2666" y="3529584"/>
            <a:ext cx="365760" cy="36576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222492" y="3968496"/>
            <a:ext cx="1626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450" dirty="0"/>
          </a:p>
        </p:txBody>
      </p:sp>
      <p:sp>
        <p:nvSpPr>
          <p:cNvPr id="50" name="Text 39"/>
          <p:cNvSpPr/>
          <p:nvPr/>
        </p:nvSpPr>
        <p:spPr>
          <a:xfrm>
            <a:off x="6222492" y="4370832"/>
            <a:ext cx="1626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workflow + HITL</a:t>
            </a:r>
            <a:endParaRPr lang="en-US" sz="1400" dirty="0"/>
          </a:p>
        </p:txBody>
      </p:sp>
      <p:sp>
        <p:nvSpPr>
          <p:cNvPr id="51" name="Shape 40"/>
          <p:cNvSpPr/>
          <p:nvPr/>
        </p:nvSpPr>
        <p:spPr>
          <a:xfrm>
            <a:off x="8031480" y="3346704"/>
            <a:ext cx="1772412" cy="1371600"/>
          </a:xfrm>
          <a:prstGeom prst="roundRect">
            <a:avLst>
              <a:gd name="adj" fmla="val 3333"/>
            </a:avLst>
          </a:prstGeom>
          <a:solidFill>
            <a:srgbClr val="F3F9F7"/>
          </a:solidFill>
          <a:ln/>
        </p:spPr>
      </p:sp>
      <p:pic>
        <p:nvPicPr>
          <p:cNvPr id="52" name="Image 9" descr="ic_database_mi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4806" y="3529584"/>
            <a:ext cx="365760" cy="36576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8104632" y="3968496"/>
            <a:ext cx="1626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450" dirty="0"/>
          </a:p>
        </p:txBody>
      </p:sp>
      <p:sp>
        <p:nvSpPr>
          <p:cNvPr id="54" name="Text 42"/>
          <p:cNvSpPr/>
          <p:nvPr/>
        </p:nvSpPr>
        <p:spPr>
          <a:xfrm>
            <a:off x="8104632" y="4370832"/>
            <a:ext cx="1626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ledger</a:t>
            </a:r>
            <a:endParaRPr lang="en-US" sz="1400" dirty="0"/>
          </a:p>
        </p:txBody>
      </p:sp>
      <p:sp>
        <p:nvSpPr>
          <p:cNvPr id="55" name="Shape 43"/>
          <p:cNvSpPr/>
          <p:nvPr/>
        </p:nvSpPr>
        <p:spPr>
          <a:xfrm>
            <a:off x="9913620" y="3346704"/>
            <a:ext cx="1772412" cy="1371600"/>
          </a:xfrm>
          <a:prstGeom prst="roundRect">
            <a:avLst>
              <a:gd name="adj" fmla="val 3333"/>
            </a:avLst>
          </a:prstGeom>
          <a:solidFill>
            <a:srgbClr val="F3F9F7"/>
          </a:solidFill>
          <a:ln/>
        </p:spPr>
      </p:sp>
      <p:pic>
        <p:nvPicPr>
          <p:cNvPr id="56" name="Image 10" descr="ic_comment_mi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6946" y="3529584"/>
            <a:ext cx="365760" cy="36576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9986772" y="3968496"/>
            <a:ext cx="1626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450" dirty="0"/>
          </a:p>
        </p:txBody>
      </p:sp>
      <p:sp>
        <p:nvSpPr>
          <p:cNvPr id="58" name="Text 45"/>
          <p:cNvSpPr/>
          <p:nvPr/>
        </p:nvSpPr>
        <p:spPr>
          <a:xfrm>
            <a:off x="9986772" y="4370832"/>
            <a:ext cx="1626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+ JIRA notify</a:t>
            </a:r>
            <a:endParaRPr lang="en-US" sz="1400" dirty="0"/>
          </a:p>
        </p:txBody>
      </p:sp>
      <p:sp>
        <p:nvSpPr>
          <p:cNvPr id="59" name="Shape 46"/>
          <p:cNvSpPr/>
          <p:nvPr/>
        </p:nvSpPr>
        <p:spPr>
          <a:xfrm>
            <a:off x="502920" y="4956048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01322A"/>
          </a:solidFill>
          <a:ln/>
        </p:spPr>
      </p:sp>
      <p:pic>
        <p:nvPicPr>
          <p:cNvPr id="60" name="Image 11" descr="ic_lock_mi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" y="5102352"/>
            <a:ext cx="274320" cy="274320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1188720" y="4956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never leaves your VPC  ·  per-vendor IAM  ·  Cloud KMS encryption  ·  full Cloud Audit Logs lineage</a:t>
            </a:r>
            <a:endParaRPr lang="en-US" sz="1450" dirty="0"/>
          </a:p>
        </p:txBody>
      </p:sp>
      <p:pic>
        <p:nvPicPr>
          <p:cNvPr id="62" name="Image 12" descr="logo_dar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ADOPTION BY 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turns the certification line into a team sport.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drives adoption across personas — and every review and override teaches the agents.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572000" cy="4114800"/>
          </a:xfrm>
          <a:prstGeom prst="roundRect">
            <a:avLst>
              <a:gd name="adj" fmla="val 1333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ic_bolt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6654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20848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 WORKS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816" y="2596896"/>
            <a:ext cx="396849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— certification throughput &amp; accuracy streaks by engineer and by team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— “Regression Caught,” “Zero-Defect Wave,” “100-Report Club”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scorecards — defects caught per vendor drive supplier accountability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points — every HITL sign-off and override earns points and trains the agents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challenges — clear the backlog faster, climb the board together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49240" y="1810512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EXPOSED TO JAMES'S TEAM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49240" y="2139696"/>
            <a:ext cx="3113532" cy="1170432"/>
          </a:xfrm>
          <a:prstGeom prst="roundRect">
            <a:avLst>
              <a:gd name="adj" fmla="val 3906"/>
            </a:avLst>
          </a:prstGeom>
          <a:solidFill>
            <a:srgbClr val="F3F9F7"/>
          </a:solidFill>
          <a:ln/>
        </p:spPr>
      </p:sp>
      <p:pic>
        <p:nvPicPr>
          <p:cNvPr id="11" name="Image 1" descr="ic_user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3042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79592" y="2286000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/ Lab Engineer (James)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32120" y="2706624"/>
            <a:ext cx="27660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signs off, trains the agents — earns accuracy &amp; streak badges.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72500" y="2139696"/>
            <a:ext cx="3113532" cy="1170432"/>
          </a:xfrm>
          <a:prstGeom prst="roundRect">
            <a:avLst>
              <a:gd name="adj" fmla="val 3906"/>
            </a:avLst>
          </a:prstGeom>
          <a:solidFill>
            <a:srgbClr val="F3F9F7"/>
          </a:solidFill>
          <a:ln/>
        </p:spPr>
      </p:sp>
      <p:pic>
        <p:nvPicPr>
          <p:cNvPr id="15" name="Image 2" descr="ic_users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0" y="23042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02852" y="2286000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Manager / VCPfe Lead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755380" y="2706624"/>
            <a:ext cx="27660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leaderboard, throughput &amp; SLA — sees who is certifying what, live.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49240" y="3429000"/>
            <a:ext cx="3113532" cy="1170432"/>
          </a:xfrm>
          <a:prstGeom prst="roundRect">
            <a:avLst>
              <a:gd name="adj" fmla="val 3906"/>
            </a:avLst>
          </a:prstGeom>
          <a:solidFill>
            <a:srgbClr val="F3F9F7"/>
          </a:solidFill>
          <a:ln/>
        </p:spPr>
      </p:sp>
      <p:pic>
        <p:nvPicPr>
          <p:cNvPr id="19" name="Image 3" descr="ic_rocket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59359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79592" y="3575304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/ Deployment Engineer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532120" y="3995928"/>
            <a:ext cx="27660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certified firmware &amp; validated upgrade paths — “safe to deploy” greenlights.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572500" y="3429000"/>
            <a:ext cx="3113532" cy="1170432"/>
          </a:xfrm>
          <a:prstGeom prst="roundRect">
            <a:avLst>
              <a:gd name="adj" fmla="val 3906"/>
            </a:avLst>
          </a:prstGeom>
          <a:solidFill>
            <a:srgbClr val="F3F9F7"/>
          </a:solidFill>
          <a:ln/>
        </p:spPr>
      </p:sp>
      <p:pic>
        <p:nvPicPr>
          <p:cNvPr id="23" name="Image 4" descr="ic_chip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359359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02852" y="3575304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Manager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755380" y="3995928"/>
            <a:ext cx="27660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scorecards (HPE / ZT / Dell) — turns defects caught into supplier leverage.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5349240" y="4718304"/>
            <a:ext cx="3113532" cy="1170432"/>
          </a:xfrm>
          <a:prstGeom prst="roundRect">
            <a:avLst>
              <a:gd name="adj" fmla="val 3906"/>
            </a:avLst>
          </a:prstGeom>
          <a:solidFill>
            <a:srgbClr val="F3F9F7"/>
          </a:solidFill>
          <a:ln/>
        </p:spPr>
      </p:sp>
      <p:pic>
        <p:nvPicPr>
          <p:cNvPr id="27" name="Image 5" descr="ic_eye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488289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879592" y="4864608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Audit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5532120" y="5285232"/>
            <a:ext cx="27660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immutable trail on demand — tracks an audit-readiness score.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8572500" y="4718304"/>
            <a:ext cx="3113532" cy="1170432"/>
          </a:xfrm>
          <a:prstGeom prst="roundRect">
            <a:avLst>
              <a:gd name="adj" fmla="val 3906"/>
            </a:avLst>
          </a:prstGeom>
          <a:solidFill>
            <a:srgbClr val="F3F9F7"/>
          </a:solidFill>
          <a:ln/>
        </p:spPr>
      </p:sp>
      <p:pic>
        <p:nvPicPr>
          <p:cNvPr id="31" name="Image 6" descr="ic_chart_mi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5380" y="4882896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02852" y="4864608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Executive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8755380" y="5285232"/>
            <a:ext cx="27660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dashboard — hours saved, regressions prevented, fleet quality trend.</a:t>
            </a:r>
            <a:endParaRPr lang="en-US" sz="1400" dirty="0"/>
          </a:p>
        </p:txBody>
      </p:sp>
      <p:pic>
        <p:nvPicPr>
          <p:cNvPr id="34" name="Image 7" descr="logo_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SEE IT LIVE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surfaces. James's real reports flowing through every 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interactive — drop in any of the 118 real reports and watch the line run.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56155" cy="3931920"/>
          </a:xfrm>
          <a:prstGeom prst="roundRect">
            <a:avLst>
              <a:gd name="adj" fmla="val 2545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ic_layers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848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10435" y="20665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4088" y="2578608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Lens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04088" y="3017520"/>
            <a:ext cx="177210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any of 118 real reports → extracted fields, triage verdict, routing in seconds. Start with the DMTF conformance report.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59659" y="1828800"/>
            <a:ext cx="2156155" cy="3931920"/>
          </a:xfrm>
          <a:prstGeom prst="roundRect">
            <a:avLst>
              <a:gd name="adj" fmla="val 2545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ic_comment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827" y="20848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7174" y="20665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960827" y="2578608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Hub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960827" y="3017520"/>
            <a:ext cx="177210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4 agents anything — 40 prefilled questions on the real corpus. “Triage the DMTF failures.” “Show the Samsung regression.”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16398" y="1828800"/>
            <a:ext cx="2156155" cy="3931920"/>
          </a:xfrm>
          <a:prstGeom prst="roundRect">
            <a:avLst>
              <a:gd name="adj" fmla="val 2545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ic_gauge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566" y="20848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3914" y="20665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217566" y="2578608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5217566" y="3017520"/>
            <a:ext cx="177210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cert queue, agent accuracy, the fleet by vendor / firmware, and the Samsung regression as a live signal.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273138" y="1828800"/>
            <a:ext cx="2156155" cy="3931920"/>
          </a:xfrm>
          <a:prstGeom prst="roundRect">
            <a:avLst>
              <a:gd name="adj" fmla="val 2545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ic_userchec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306" y="20848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80653" y="20665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474306" y="2578608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74306" y="3017520"/>
            <a:ext cx="177210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reviews the AI's triage of the 7 conformance failures and signs off. Approve / Reject / Override — all audit-logged.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9529877" y="1828800"/>
            <a:ext cx="2156155" cy="3931920"/>
          </a:xfrm>
          <a:prstGeom prst="roundRect">
            <a:avLst>
              <a:gd name="adj" fmla="val 2545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ic_chart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1045" y="20848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137392" y="20665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9731045" y="2578608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Signal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9731045" y="3017520"/>
            <a:ext cx="177210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6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Forward-looking: which firmware to block, which upgrade paths are validated, regression watch across the fleet.</a:t>
            </a:r>
            <a:endParaRPr lang="en-US" sz="1400" dirty="0"/>
          </a:p>
        </p:txBody>
      </p:sp>
      <p:pic>
        <p:nvPicPr>
          <p:cNvPr id="30" name="Image 5" descr="logo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THE ASK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4,720 hours to 28. Let's certify one real wave together.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4-week pilot — your Google Cloud project, your IAM, your reports — APEX in parallel with James.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122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tune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953512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8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real corpus and tune the triage rules to James's own historical decisions.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5676" y="187452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9996" y="21122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39996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parallel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39996" y="2953512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8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 firmware drops through APEX alongside James — validate every single verdict.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28432" y="187452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004D3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2752" y="21122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scale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02752" y="2953512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8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AI's verdicts next to the SME's, side by side, and agree the scale plan across the fleet.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443984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01322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0" descr="ic_handshake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18304"/>
            <a:ext cx="420624" cy="4206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45902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63040" y="4864608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four weeks you compare the AI's verdicts to James's, side by side — and decide, on the evidence, how far across the fleet APEX goes next.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" y="555955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data from James Patchett · MTCE Lab VCPfe · Verizon</a:t>
            </a:r>
            <a:endParaRPr lang="en-US" sz="1400" dirty="0"/>
          </a:p>
        </p:txBody>
      </p:sp>
      <p:pic>
        <p:nvPicPr>
          <p:cNvPr id="22" name="Image 1" descr="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1188720" cy="17373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— Verizon Far Edge Firmware Certification</dc:title>
  <dc:subject>PptxGenJS Presentation</dc:subject>
  <dc:creator>CBTS AI Practice</dc:creator>
  <cp:lastModifiedBy>CBTS AI Practice</cp:lastModifiedBy>
  <cp:revision>1</cp:revision>
  <dcterms:created xsi:type="dcterms:W3CDTF">2026-06-12T18:43:20Z</dcterms:created>
  <dcterms:modified xsi:type="dcterms:W3CDTF">2026-06-12T18:43:20Z</dcterms:modified>
</cp:coreProperties>
</file>